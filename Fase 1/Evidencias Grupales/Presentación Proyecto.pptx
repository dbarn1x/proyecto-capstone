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fe19dd4-3cd0-4672-988e-5cc518a54246.fntdata" /><ns0:Relationship Id="rIdFont21" Type="http://schemas.openxmlformats.org/officeDocument/2006/relationships/font" Target="fonts/037494e9-f6ae-42ee-bcf8-0982bb25a47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25242"/>
            <a:ext cx="3209925" cy="447675"/>
          </a:xfrm>
          <a:prstGeom prst="roundRect">
            <a:avLst>
              <a:gd name="adj" fmla="val 2553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082"/>
            <a:ext cx="2667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463355"/>
            <a:ext cx="219075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80382"/>
            <a:ext cx="3962995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PAWS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57562"/>
            <a:ext cx="6953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Plataforma comunitaria digital para la seguridad, bienestar y socialización de mascotas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118419"/>
            <a:ext cx="3940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59E0B"/>
                </a:solidFill>
                <a:latin typeface="Plus Jakarta Sans"/>
              </a:rPr>
              <a:t>PROYECTO CAPSTONE TI — PTY4614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449067"/>
            <a:ext cx="2952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Informe Técnico Grupal — Fase 1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2881312"/>
            <a:ext cx="5686425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33675"/>
            <a:ext cx="49815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38600"/>
            <a:ext cx="49815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33675"/>
            <a:ext cx="38100" cy="11144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038600"/>
            <a:ext cx="38100" cy="11144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Desafío del Sector &amp; Oportunidad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542925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CONTEXTO DEL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6421" y="3233737"/>
            <a:ext cx="2345531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Plus Jakarta Sans"/>
              </a:rPr>
              <a:t>80%+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468" y="3995737"/>
            <a:ext cx="2357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Hogares con Mascotas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5703" y="4291012"/>
            <a:ext cx="622696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Demandan soluciones digitales centralizadas y confiables en su entorno local.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962275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Fragmentación de 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257550"/>
            <a:ext cx="45815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Alertas, comercio y encuentros operan en canales informales sin integración.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267200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Incertidumbre e Inseguridad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562475"/>
            <a:ext cx="45815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Falta de verificación de identidad en interacciones y transacciones presenciales.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8462"/>
            <a:ext cx="350520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8462"/>
            <a:ext cx="350520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8462"/>
            <a:ext cx="350520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428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3243262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243262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3243262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3612" y="3395662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7412" y="3395662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0" y="339566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Ecosistema Unificado PAWS 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42925"/>
            <a:ext cx="203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PROPUESTA DE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" y="396716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Seguridad Colaborativa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1487"/>
            <a:ext cx="3810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Alertas comunitarias en tiempo real para extravíos y prevención de riesgos.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0" y="396716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Economía Circular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4281487"/>
            <a:ext cx="3810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Marketplace verificado de intercambio, venta y donación de productos.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9550" y="3967162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Comunidad &amp; Socialización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4281487"/>
            <a:ext cx="3810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Match de mascotas por afinidad para paseos e interacciones 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6062"/>
            <a:ext cx="53911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786062"/>
            <a:ext cx="53911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29062"/>
            <a:ext cx="53911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29062"/>
            <a:ext cx="53911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3847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038475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18147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4181475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Módulos Principales del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542925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ARQUITECTURA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19462"/>
            <a:ext cx="6143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Geolocalización en tiempo real de reportes vecinales.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319462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Catálogo de accesorios, donaciones y comidas entre usuarios.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462462"/>
            <a:ext cx="5010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Algoritmo de compatibilidad por imagen, temperamento y ubicación geográfica.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462462"/>
            <a:ext cx="5010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Protocolo de validación previa a interacciones presenciales o transacciones.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024187"/>
            <a:ext cx="20502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Mapa Interactivo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024187"/>
            <a:ext cx="25503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Marketplace Circular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167187"/>
            <a:ext cx="2200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Sistema de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4167187"/>
            <a:ext cx="30253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Verificación de Identidad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0775"/>
            <a:ext cx="5314950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24250"/>
            <a:ext cx="5314950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57725"/>
            <a:ext cx="531495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90775"/>
            <a:ext cx="38100" cy="9810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24250"/>
            <a:ext cx="38100" cy="9810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57725"/>
            <a:ext cx="38100" cy="800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00300"/>
            <a:ext cx="5314950" cy="304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Arquitectura Multicapa &amp; 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42925"/>
            <a:ext cx="2059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DISEÑO DE INGENIERÍA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81275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Capa de Presentación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819400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Frontend Web/Móvil responsive optimizado para experiencia de usuario fluida.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714750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Capa de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52875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API RESTful desacoplada para gestión de alertas, usuarios y publicaciones.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848225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Servicios Externos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8635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Integración con Google Maps API y pasarela de autenticación segura.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09912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19425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2956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386137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295650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Modelado de Datos Escalable &amp; Geoespacial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42925"/>
            <a:ext cx="226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PERSISTENCIA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5285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Soporte Geoespacial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48125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Consultas de proximidad optimizadas con PostGIS/GeoJSON para alertas en tiempo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8433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Relaciones Complejas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4138612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Estructura relacional eficiente para perfiles, publicaciones de marketplace y matches.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752850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Rendimiento Sub-Segundo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4048125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Indexación espacial para respuestas inmediatas ante alta concurrencia comunitaria.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5175"/>
            <a:ext cx="2628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305175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3305175"/>
            <a:ext cx="2628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90900" y="3305175"/>
            <a:ext cx="26289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3305175"/>
            <a:ext cx="2628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3305175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3305175"/>
            <a:ext cx="2628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305175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Plan de Sprints &amp; Entregables Incrementales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542925"/>
            <a:ext cx="213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METODOLOGÍA SCRUM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495675"/>
            <a:ext cx="234315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Sprint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3495675"/>
            <a:ext cx="234315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Sprint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495675"/>
            <a:ext cx="234315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Sprint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95675"/>
            <a:ext cx="234315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Sprint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810000"/>
            <a:ext cx="29503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Diseño &amp;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086225"/>
            <a:ext cx="2343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Requerimientos, prototipos UI/UX y arquitectura 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400" y="3810000"/>
            <a:ext cx="29503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Backend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400" y="4086225"/>
            <a:ext cx="2343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Base de datos, API REST e integración de verificación.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3810000"/>
            <a:ext cx="29503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Mapa &amp;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4086225"/>
            <a:ext cx="2343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Módulo de mapa interactivo y algoritmo de afinidad.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810000"/>
            <a:ext cx="29503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Marketplace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86225"/>
            <a:ext cx="2343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Modulo comercial, pruebas integrales y despliegue MVP.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238125" cy="190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676525"/>
            <a:ext cx="10972800" cy="2457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676525"/>
          <a:ext cx="10972799" cy="2457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40360"/>
                <a:gridCol w="7132439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Competencia de Egreso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Aplicación Práctica en PAWS SAFE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Gestionar proyectos informáticos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Planificación bajo marco Scrum, estimación en Story Points y control en Jira.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Desarrollar soluciones de software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Arquitectura desacoplada Frontend/Backend e integración de APIs externas.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Construir modelos de datos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Diseño de base de datos relacional con soporte geoespacial optimizado.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Realizar pruebas de certificación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Pruebas unitarias, de integración y validación de seguridad de usuarios.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Integración de Competencias de Egreso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542925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ALINEACIÓN ACADÉMICA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3505200" cy="220980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8937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31527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243262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3243262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3612" y="3305175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275" y="3395662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212" y="3395662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Áreas de Interés Profesional del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542925"/>
            <a:ext cx="176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PERFIL DEL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51" y="387667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Liderazgo en Proyectos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106" y="4191000"/>
            <a:ext cx="37861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Gestión ágil como Product Owner y Scrum Master para dirigir entregas alineadas al negocio.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251" y="396716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Desarrollo Web &amp; Apps Móviles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2906" y="4281487"/>
            <a:ext cx="378618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Construcción e integración de interfaces web y móviles conectadas a APIs REST.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2051" y="396716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Bases de Datos &amp; Análisis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706" y="4281487"/>
            <a:ext cx="378618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Modelado relacional y espacial junto al análisis de métricas clave de la plataforma.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86025"/>
            <a:ext cx="109728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6099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624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0" y="2686050"/>
            <a:ext cx="5248275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91275" y="3810000"/>
            <a:ext cx="49530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4762500"/>
            <a:ext cx="4943475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Factibilidad Técnica &amp; Estrategia de Mitigación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542925"/>
            <a:ext cx="195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GESTIÓN DE RIESGOS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71775"/>
            <a:ext cx="3076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Plus Jakarta Sans"/>
              </a:rPr>
              <a:t>Riesgo Integración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10000"/>
            <a:ext cx="3057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Riesgo Desviación de 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762500"/>
            <a:ext cx="29432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Riesgo Coordinación Grupal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990850"/>
            <a:ext cx="3726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Curva de aprendizaje en servicios externos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800350"/>
            <a:ext cx="5038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Mitigación: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Ejecución de Spikes técnicos en Sprint 1 para validar compatibilidad.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029075"/>
            <a:ext cx="3702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Inclusión no planificada de requerimientos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3924300"/>
            <a:ext cx="56483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Mitigación: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Priorización estricta del Product Backlog por el Product Owner.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981575"/>
            <a:ext cx="3559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Cuellos de botella en entregas continuas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4876800"/>
            <a:ext cx="5638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Mitigación: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Dailies breves, tableros ágiles y revisiones cruzadas de código.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190750"/>
            <a:ext cx="5314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409950"/>
            <a:ext cx="5314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7450" y="4629150"/>
            <a:ext cx="5314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00300"/>
            <a:ext cx="531495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Indicadores Clave de Calidad del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54292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MÉTRICAS DE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23812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lus Jakarta Sans"/>
              </a:rPr>
              <a:t>&lt; 5 seg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6004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D9488"/>
                </a:solidFill>
                <a:latin typeface="Plus Jakarta San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4819650"/>
            <a:ext cx="4953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4 Sprints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847975"/>
            <a:ext cx="5695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Tiempo de respuesta en mapa de alertas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4067175"/>
            <a:ext cx="5695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Usuarios verificados previo a interacciones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5286375"/>
            <a:ext cx="5695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Cumplimiento estricto del cronograma 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29150" y="4371975"/>
            <a:ext cx="2933700" cy="542925"/>
          </a:xfrm>
          <a:prstGeom prst="roundRect">
            <a:avLst>
              <a:gd name="adj" fmla="val 210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431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955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536" y="2781300"/>
            <a:ext cx="341292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PAWS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51472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Construyendo comunidades más seguras, conectadas y colaborativas para nuestras mascotas.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5343" y="4533900"/>
            <a:ext cx="2881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Plus Jakarta Sans"/>
              </a:rPr>
              <a:t>¿Preguntas o Comentarios?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922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https://cdn.dribbble.com/userupload/12430600/file/original-8aa8635d3594d47d7209cdb8fb2e4768.png?resize=400x0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012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dribbble.com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762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https://www.gainanimalnutrition.com/pet/wp-content/uploads/sites/3/2021/11/home-1320x490.png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45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www.gainanimalnutrition.com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